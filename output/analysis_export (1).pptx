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Number of Records by Question ID (QID)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cat>
            <c:strRef>
              <c:f>Sheet1!$A$2:$A$26</c:f>
              <c:strCache>
                <c:ptCount val="25"/>
                <c:pt idx="0">
                  <c:v>q17</c:v>
                </c:pt>
                <c:pt idx="1">
                  <c:v>q19</c:v>
                </c:pt>
                <c:pt idx="2">
                  <c:v>uniqueid</c:v>
                </c:pt>
                <c:pt idx="3">
                  <c:v>q15b</c:v>
                </c:pt>
                <c:pt idx="4">
                  <c:v>q12</c:v>
                </c:pt>
                <c:pt idx="5">
                  <c:v>q9a</c:v>
                </c:pt>
                <c:pt idx="6">
                  <c:v>q16</c:v>
                </c:pt>
                <c:pt idx="7">
                  <c:v>q21</c:v>
                </c:pt>
                <c:pt idx="8">
                  <c:v>q18</c:v>
                </c:pt>
                <c:pt idx="9">
                  <c:v>q15a</c:v>
                </c:pt>
                <c:pt idx="10">
                  <c:v>language</c:v>
                </c:pt>
                <c:pt idx="11">
                  <c:v>weight</c:v>
                </c:pt>
                <c:pt idx="12">
                  <c:v>q4</c:v>
                </c:pt>
                <c:pt idx="13">
                  <c:v>q6b</c:v>
                </c:pt>
                <c:pt idx="14">
                  <c:v>q6a</c:v>
                </c:pt>
                <c:pt idx="15">
                  <c:v>q3</c:v>
                </c:pt>
                <c:pt idx="16">
                  <c:v>q8</c:v>
                </c:pt>
                <c:pt idx="17">
                  <c:v>q10</c:v>
                </c:pt>
                <c:pt idx="18">
                  <c:v>mrk_finalq16</c:v>
                </c:pt>
                <c:pt idx="19">
                  <c:v>q22a</c:v>
                </c:pt>
                <c:pt idx="20">
                  <c:v>q1</c:v>
                </c:pt>
                <c:pt idx="21">
                  <c:v>q20</c:v>
                </c:pt>
                <c:pt idx="22">
                  <c:v>hregionus</c:v>
                </c:pt>
                <c:pt idx="23">
                  <c:v>q5</c:v>
                </c:pt>
                <c:pt idx="24">
                  <c:v>hcountry</c:v>
                </c:pt>
              </c:strCache>
            </c:strRef>
          </c:cat>
          <c:val>
            <c:numRef>
              <c:f>Sheet1!$B$2:$B$26</c:f>
              <c:numCache>
                <c:formatCode>General</c:formatCode>
                <c:ptCount val="25"/>
                <c:pt idx="0">
                  <c:v>4296.0</c:v>
                </c:pt>
                <c:pt idx="1">
                  <c:v>765.0</c:v>
                </c:pt>
                <c:pt idx="2">
                  <c:v>714.0</c:v>
                </c:pt>
                <c:pt idx="3">
                  <c:v>541.0</c:v>
                </c:pt>
                <c:pt idx="4">
                  <c:v>540.0</c:v>
                </c:pt>
                <c:pt idx="5">
                  <c:v>540.0</c:v>
                </c:pt>
                <c:pt idx="6">
                  <c:v>396.0</c:v>
                </c:pt>
                <c:pt idx="7">
                  <c:v>396.0</c:v>
                </c:pt>
                <c:pt idx="8">
                  <c:v>271.0</c:v>
                </c:pt>
                <c:pt idx="9">
                  <c:v>241.0</c:v>
                </c:pt>
                <c:pt idx="10">
                  <c:v>117.0</c:v>
                </c:pt>
                <c:pt idx="11">
                  <c:v>86.0</c:v>
                </c:pt>
                <c:pt idx="12">
                  <c:v>51.0</c:v>
                </c:pt>
                <c:pt idx="13">
                  <c:v>45.0</c:v>
                </c:pt>
                <c:pt idx="14">
                  <c:v>35.0</c:v>
                </c:pt>
                <c:pt idx="15">
                  <c:v>35.0</c:v>
                </c:pt>
                <c:pt idx="16">
                  <c:v>31.0</c:v>
                </c:pt>
                <c:pt idx="17">
                  <c:v>31.0</c:v>
                </c:pt>
                <c:pt idx="18">
                  <c:v>31.0</c:v>
                </c:pt>
                <c:pt idx="19">
                  <c:v>29.0</c:v>
                </c:pt>
                <c:pt idx="20">
                  <c:v>21.0</c:v>
                </c:pt>
                <c:pt idx="21">
                  <c:v>21.0</c:v>
                </c:pt>
                <c:pt idx="22">
                  <c:v>19.0</c:v>
                </c:pt>
                <c:pt idx="23">
                  <c:v>11.0</c:v>
                </c:pt>
                <c:pt idx="24">
                  <c:v>3.0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Survey Respondents by US Region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South</c:v>
                </c:pt>
                <c:pt idx="1">
                  <c:v>West</c:v>
                </c:pt>
                <c:pt idx="2">
                  <c:v>Midwest</c:v>
                </c:pt>
                <c:pt idx="3">
                  <c:v>Northeast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138.0</c:v>
                </c:pt>
                <c:pt idx="1">
                  <c:v>84.0</c:v>
                </c:pt>
                <c:pt idx="2">
                  <c:v>74.0</c:v>
                </c:pt>
                <c:pt idx="3">
                  <c:v>59.0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Survey Respondent Count by Country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US</c:v>
                </c:pt>
                <c:pt idx="1">
                  <c:v>Sigma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355.0</c:v>
                </c:pt>
                <c:pt idx="1">
                  <c:v>355.0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Analysis Summary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 by Cortex PPT Export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Record Distribution by Question ID (QID)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3291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/>
            </a:pPr>
            <a:r>
              <a:t>• q17: 46% of records (4,296) - Brand Attribute Ratings</a:t>
            </a:r>
          </a:p>
          <a:p>
            <a:pPr>
              <a:spcAft>
                <a:spcPts val="1000"/>
              </a:spcAft>
              <a:defRPr sz="1600"/>
            </a:pPr>
            <a:r>
              <a:t>• q19: 765 records - NPS / Likelihood to Recommend</a:t>
            </a:r>
          </a:p>
          <a:p>
            <a:pPr>
              <a:spcAft>
                <a:spcPts val="1000"/>
              </a:spcAft>
              <a:defRPr sz="1600"/>
            </a:pPr>
            <a:r>
              <a:t>• Top 2 QIDs account for 55% of total records (9,266)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023360" y="1188720"/>
          <a:ext cx="4389120" cy="3474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Survey Respondents by US Region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3291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/>
            </a:pPr>
            <a:r>
              <a:t>• South: 39% of respondents</a:t>
            </a:r>
          </a:p>
          <a:p>
            <a:pPr>
              <a:spcAft>
                <a:spcPts val="1000"/>
              </a:spcAft>
              <a:defRPr sz="1600"/>
            </a:pPr>
            <a:r>
              <a:t>• West: 24% of respondents</a:t>
            </a:r>
          </a:p>
          <a:p>
            <a:pPr>
              <a:spcAft>
                <a:spcPts val="1000"/>
              </a:spcAft>
              <a:defRPr sz="1600"/>
            </a:pPr>
            <a:r>
              <a:t>• Midwest: 21% of respondents</a:t>
            </a:r>
          </a:p>
          <a:p>
            <a:pPr>
              <a:spcAft>
                <a:spcPts val="1000"/>
              </a:spcAft>
              <a:defRPr sz="1600"/>
            </a:pPr>
            <a:r>
              <a:t>• Northeast: 17% of respondents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023360" y="1188720"/>
          <a:ext cx="4389120" cy="3474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Respondents by US Region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3291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/>
            </a:pPr>
            <a:r>
              <a:t>• South: 39% of respondents</a:t>
            </a:r>
          </a:p>
          <a:p>
            <a:pPr>
              <a:spcAft>
                <a:spcPts val="1000"/>
              </a:spcAft>
              <a:defRPr sz="1600"/>
            </a:pPr>
            <a:r>
              <a:t>• West: 24% of respondents</a:t>
            </a:r>
          </a:p>
          <a:p>
            <a:pPr>
              <a:spcAft>
                <a:spcPts val="1000"/>
              </a:spcAft>
              <a:defRPr sz="1600"/>
            </a:pPr>
            <a:r>
              <a:t>• Midwest: 21% of respondents</a:t>
            </a:r>
          </a:p>
          <a:p>
            <a:pPr>
              <a:spcAft>
                <a:spcPts val="1000"/>
              </a:spcAft>
              <a:defRPr sz="1600"/>
            </a:pPr>
            <a:r>
              <a:t>• Northeast: 17% of respondents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023360" y="1188720"/>
          <a:ext cx="4389120" cy="3474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