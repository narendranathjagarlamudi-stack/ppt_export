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Familiarity by US Region – 5 Brands (Top 2 Box 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NORTHEAST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80.9</c:v>
                </c:pt>
                <c:pt idx="1">
                  <c:v>40.4</c:v>
                </c:pt>
                <c:pt idx="2">
                  <c:v>27.7</c:v>
                </c:pt>
                <c:pt idx="3">
                  <c:v>21.3</c:v>
                </c:pt>
                <c:pt idx="4">
                  <c:v>17.0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MIDWEST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81.0</c:v>
                </c:pt>
                <c:pt idx="1">
                  <c:v>31.7</c:v>
                </c:pt>
                <c:pt idx="2">
                  <c:v>3.2</c:v>
                </c:pt>
                <c:pt idx="3">
                  <c:v>12.7</c:v>
                </c:pt>
                <c:pt idx="4">
                  <c:v>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72.4</c:v>
                </c:pt>
                <c:pt idx="1">
                  <c:v>37.1</c:v>
                </c:pt>
                <c:pt idx="2">
                  <c:v>18.1</c:v>
                </c:pt>
                <c:pt idx="3">
                  <c:v>23.3</c:v>
                </c:pt>
                <c:pt idx="4">
                  <c:v>19.0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69.7</c:v>
                </c:pt>
                <c:pt idx="1">
                  <c:v>33.3</c:v>
                </c:pt>
                <c:pt idx="2">
                  <c:v>21.2</c:v>
                </c:pt>
                <c:pt idx="3">
                  <c:v>15.2</c:v>
                </c:pt>
                <c:pt idx="4">
                  <c:v>15.2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Consideration by US Region – 5 Brands (Top 2 Box 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NORTHEAST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75.9</c:v>
                </c:pt>
                <c:pt idx="1">
                  <c:v>33.3</c:v>
                </c:pt>
                <c:pt idx="2">
                  <c:v>25.9</c:v>
                </c:pt>
                <c:pt idx="3">
                  <c:v>18.5</c:v>
                </c:pt>
                <c:pt idx="4">
                  <c:v>18.5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MIDWEST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78.7</c:v>
                </c:pt>
                <c:pt idx="1">
                  <c:v>39.3</c:v>
                </c:pt>
                <c:pt idx="2">
                  <c:v>6.6</c:v>
                </c:pt>
                <c:pt idx="3">
                  <c:v>16.4</c:v>
                </c:pt>
                <c:pt idx="4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70.7</c:v>
                </c:pt>
                <c:pt idx="1">
                  <c:v>30.1</c:v>
                </c:pt>
                <c:pt idx="2">
                  <c:v>19.5</c:v>
                </c:pt>
                <c:pt idx="3">
                  <c:v>21.1</c:v>
                </c:pt>
                <c:pt idx="4">
                  <c:v>16.3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Waste Management</c:v>
                </c:pt>
                <c:pt idx="1">
                  <c:v>Republic Services</c:v>
                </c:pt>
                <c:pt idx="2">
                  <c:v>Clean Harbors</c:v>
                </c:pt>
                <c:pt idx="3">
                  <c:v>GFL Environmental</c:v>
                </c:pt>
                <c:pt idx="4">
                  <c:v>Waste Connections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64.3</c:v>
                </c:pt>
                <c:pt idx="1">
                  <c:v>38.6</c:v>
                </c:pt>
                <c:pt idx="2">
                  <c:v>20.0</c:v>
                </c:pt>
                <c:pt idx="3">
                  <c:v>11.4</c:v>
                </c:pt>
                <c:pt idx="4">
                  <c:v>12.9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NPS Mean Score by US Region – 6 Major Brands (0–10 Scale Heatmap)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NORTHEAST_NPS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GFL Environmental</c:v>
                </c:pt>
                <c:pt idx="1">
                  <c:v>Waste Management</c:v>
                </c:pt>
                <c:pt idx="2">
                  <c:v>Republic Services</c:v>
                </c:pt>
                <c:pt idx="3">
                  <c:v>Allied Waste</c:v>
                </c:pt>
                <c:pt idx="4">
                  <c:v>Clean Harbors</c:v>
                </c:pt>
                <c:pt idx="5">
                  <c:v>Waste Connections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8.6</c:v>
                </c:pt>
                <c:pt idx="1">
                  <c:v>8.2</c:v>
                </c:pt>
                <c:pt idx="2">
                  <c:v>8.1</c:v>
                </c:pt>
                <c:pt idx="3">
                  <c:v>7.7</c:v>
                </c:pt>
                <c:pt idx="4">
                  <c:v>7.4</c:v>
                </c:pt>
                <c:pt idx="5">
                  <c:v>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MIDWEST_NPS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GFL Environmental</c:v>
                </c:pt>
                <c:pt idx="1">
                  <c:v>Waste Management</c:v>
                </c:pt>
                <c:pt idx="2">
                  <c:v>Republic Services</c:v>
                </c:pt>
                <c:pt idx="3">
                  <c:v>Allied Waste</c:v>
                </c:pt>
                <c:pt idx="4">
                  <c:v>Clean Harbors</c:v>
                </c:pt>
                <c:pt idx="5">
                  <c:v>Waste Connections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7.5</c:v>
                </c:pt>
                <c:pt idx="1">
                  <c:v>8.5</c:v>
                </c:pt>
                <c:pt idx="2">
                  <c:v>7.6</c:v>
                </c:pt>
                <c:pt idx="3">
                  <c:v>7.3</c:v>
                </c:pt>
                <c:pt idx="4">
                  <c:v>6.3</c:v>
                </c:pt>
                <c:pt idx="5">
                  <c:v>7.8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SOUTH_NPS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GFL Environmental</c:v>
                </c:pt>
                <c:pt idx="1">
                  <c:v>Waste Management</c:v>
                </c:pt>
                <c:pt idx="2">
                  <c:v>Republic Services</c:v>
                </c:pt>
                <c:pt idx="3">
                  <c:v>Allied Waste</c:v>
                </c:pt>
                <c:pt idx="4">
                  <c:v>Clean Harbors</c:v>
                </c:pt>
                <c:pt idx="5">
                  <c:v>Waste Connections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8.8</c:v>
                </c:pt>
                <c:pt idx="1">
                  <c:v>8.5</c:v>
                </c:pt>
                <c:pt idx="2">
                  <c:v>7.9</c:v>
                </c:pt>
                <c:pt idx="3">
                  <c:v>7.6</c:v>
                </c:pt>
                <c:pt idx="4">
                  <c:v>8.3</c:v>
                </c:pt>
                <c:pt idx="5">
                  <c:v>7.5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WEST_NPS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GFL Environmental</c:v>
                </c:pt>
                <c:pt idx="1">
                  <c:v>Waste Management</c:v>
                </c:pt>
                <c:pt idx="2">
                  <c:v>Republic Services</c:v>
                </c:pt>
                <c:pt idx="3">
                  <c:v>Allied Waste</c:v>
                </c:pt>
                <c:pt idx="4">
                  <c:v>Clean Harbors</c:v>
                </c:pt>
                <c:pt idx="5">
                  <c:v>Waste Connections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8.0</c:v>
                </c:pt>
                <c:pt idx="1">
                  <c:v>8.5</c:v>
                </c:pt>
                <c:pt idx="2">
                  <c:v>7.7</c:v>
                </c:pt>
                <c:pt idx="3">
                  <c:v>6.9</c:v>
                </c:pt>
                <c:pt idx="4">
                  <c:v>7.0</c:v>
                </c:pt>
                <c:pt idx="5">
                  <c:v>7.2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Funnel: Familiarity vs Consideration vs Current Usage – Top 10 Brands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FAMILIARITY_PCT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US Ecology</c:v>
                </c:pt>
                <c:pt idx="4">
                  <c:v>BFI</c:v>
                </c:pt>
                <c:pt idx="5">
                  <c:v>GFL Environmental</c:v>
                </c:pt>
                <c:pt idx="6">
                  <c:v>Stericycle</c:v>
                </c:pt>
                <c:pt idx="7">
                  <c:v>Clean Harbors</c:v>
                </c:pt>
                <c:pt idx="8">
                  <c:v>Ecoflo</c:v>
                </c:pt>
                <c:pt idx="9">
                  <c:v>Heritage Environmental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75.0</c:v>
                </c:pt>
                <c:pt idx="1">
                  <c:v>35.6</c:v>
                </c:pt>
                <c:pt idx="2">
                  <c:v>25.3</c:v>
                </c:pt>
                <c:pt idx="3">
                  <c:v>21.6</c:v>
                </c:pt>
                <c:pt idx="4">
                  <c:v>21.2</c:v>
                </c:pt>
                <c:pt idx="5">
                  <c:v>18.8</c:v>
                </c:pt>
                <c:pt idx="6">
                  <c:v>17.8</c:v>
                </c:pt>
                <c:pt idx="7">
                  <c:v>17.1</c:v>
                </c:pt>
                <c:pt idx="8">
                  <c:v>16.4</c:v>
                </c:pt>
                <c:pt idx="9">
                  <c:v>16.4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CONSIDERATION_PCT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US Ecology</c:v>
                </c:pt>
                <c:pt idx="4">
                  <c:v>BFI</c:v>
                </c:pt>
                <c:pt idx="5">
                  <c:v>GFL Environmental</c:v>
                </c:pt>
                <c:pt idx="6">
                  <c:v>Stericycle</c:v>
                </c:pt>
                <c:pt idx="7">
                  <c:v>Clean Harbors</c:v>
                </c:pt>
                <c:pt idx="8">
                  <c:v>Ecoflo</c:v>
                </c:pt>
                <c:pt idx="9">
                  <c:v>Heritage Environmental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71.8</c:v>
                </c:pt>
                <c:pt idx="1">
                  <c:v>34.4</c:v>
                </c:pt>
                <c:pt idx="2">
                  <c:v>25.6</c:v>
                </c:pt>
                <c:pt idx="3">
                  <c:v>26.6</c:v>
                </c:pt>
                <c:pt idx="4">
                  <c:v>21.8</c:v>
                </c:pt>
                <c:pt idx="5">
                  <c:v>17.5</c:v>
                </c:pt>
                <c:pt idx="6">
                  <c:v>17.9</c:v>
                </c:pt>
                <c:pt idx="7">
                  <c:v>18.2</c:v>
                </c:pt>
                <c:pt idx="8">
                  <c:v>21.1</c:v>
                </c:pt>
                <c:pt idx="9">
                  <c:v>17.2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USAGE_PCT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US Ecology</c:v>
                </c:pt>
                <c:pt idx="4">
                  <c:v>BFI</c:v>
                </c:pt>
                <c:pt idx="5">
                  <c:v>GFL Environmental</c:v>
                </c:pt>
                <c:pt idx="6">
                  <c:v>Stericycle</c:v>
                </c:pt>
                <c:pt idx="7">
                  <c:v>Clean Harbors</c:v>
                </c:pt>
                <c:pt idx="8">
                  <c:v>Ecoflo</c:v>
                </c:pt>
                <c:pt idx="9">
                  <c:v>Heritage Environmental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62.3</c:v>
                </c:pt>
                <c:pt idx="1">
                  <c:v>16.1</c:v>
                </c:pt>
                <c:pt idx="2">
                  <c:v>6.8</c:v>
                </c:pt>
                <c:pt idx="3">
                  <c:v>8.5</c:v>
                </c:pt>
                <c:pt idx="4">
                  <c:v>6.8</c:v>
                </c:pt>
                <c:pt idx="5">
                  <c:v>8.2</c:v>
                </c:pt>
                <c:pt idx="6">
                  <c:v>9.9</c:v>
                </c:pt>
                <c:pt idx="7">
                  <c:v>5.6</c:v>
                </c:pt>
                <c:pt idx="8">
                  <c:v>5.1</c:v>
                </c:pt>
                <c:pt idx="9">
                  <c:v>5.6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Consideration by Decision Role – 6 Brands (Top 2 Box 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PRIMARY_DM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Clean Harbors</c:v>
                </c:pt>
                <c:pt idx="4">
                  <c:v>GFL Environmental</c:v>
                </c:pt>
                <c:pt idx="5">
                  <c:v>Waste Connections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69.1</c:v>
                </c:pt>
                <c:pt idx="1">
                  <c:v>36.0</c:v>
                </c:pt>
                <c:pt idx="2">
                  <c:v>30.3</c:v>
                </c:pt>
                <c:pt idx="3">
                  <c:v>23.6</c:v>
                </c:pt>
                <c:pt idx="4">
                  <c:v>21.9</c:v>
                </c:pt>
                <c:pt idx="5">
                  <c:v>16.9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GROUP_MEMBER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Clean Harbors</c:v>
                </c:pt>
                <c:pt idx="4">
                  <c:v>GFL Environmental</c:v>
                </c:pt>
                <c:pt idx="5">
                  <c:v>Waste Connections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75.0</c:v>
                </c:pt>
                <c:pt idx="1">
                  <c:v>35.6</c:v>
                </c:pt>
                <c:pt idx="2">
                  <c:v>22.1</c:v>
                </c:pt>
                <c:pt idx="3">
                  <c:v>12.5</c:v>
                </c:pt>
                <c:pt idx="4">
                  <c:v>11.5</c:v>
                </c:pt>
                <c:pt idx="5">
                  <c:v>9.6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INPUT_ONLY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Clean Harbors</c:v>
                </c:pt>
                <c:pt idx="4">
                  <c:v>GFL Environmental</c:v>
                </c:pt>
                <c:pt idx="5">
                  <c:v>Waste Connections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76.9</c:v>
                </c:pt>
                <c:pt idx="1">
                  <c:v>19.2</c:v>
                </c:pt>
                <c:pt idx="2">
                  <c:v>7.7</c:v>
                </c:pt>
                <c:pt idx="3">
                  <c:v>3.8</c:v>
                </c:pt>
                <c:pt idx="4">
                  <c:v>11.5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OVERALL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Waste Management</c:v>
                </c:pt>
                <c:pt idx="1">
                  <c:v>Republic Services</c:v>
                </c:pt>
                <c:pt idx="2">
                  <c:v>Allied Waste</c:v>
                </c:pt>
                <c:pt idx="3">
                  <c:v>Clean Harbors</c:v>
                </c:pt>
                <c:pt idx="4">
                  <c:v>GFL Environmental</c:v>
                </c:pt>
                <c:pt idx="5">
                  <c:v>Waste Connections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71.8</c:v>
                </c:pt>
                <c:pt idx="1">
                  <c:v>34.4</c:v>
                </c:pt>
                <c:pt idx="2">
                  <c:v>25.6</c:v>
                </c:pt>
                <c:pt idx="3">
                  <c:v>18.2</c:v>
                </c:pt>
                <c:pt idx="4">
                  <c:v>17.5</c:v>
                </c:pt>
                <c:pt idx="5">
                  <c:v>13.0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Service Attribute Importance by US Region – Heatmap (Top 2 Box 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NORTHEAST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Provides reliable service</c:v>
                </c:pt>
                <c:pt idx="1">
                  <c:v>Provides timely waste reporting</c:v>
                </c:pt>
                <c:pt idx="2">
                  <c:v>Is compliant with all regulations</c:v>
                </c:pt>
                <c:pt idx="3">
                  <c:v>Is an innovative company pioneering new solutions to real problems</c:v>
                </c:pt>
                <c:pt idx="4">
                  <c:v>Anticipates my organization's waste needs and recommends solutions to solve complex waste problems</c:v>
                </c:pt>
                <c:pt idx="5">
                  <c:v>Has proactive communication about my service</c:v>
                </c:pt>
                <c:pt idx="6">
                  <c:v>Is a single solution provider for all recycling, waste, and environmental services needs</c:v>
                </c:pt>
                <c:pt idx="7">
                  <c:v>Offers a wide range of services</c:v>
                </c:pt>
                <c:pt idx="8">
                  <c:v>Works with my company to help us reach our sustainability goals</c:v>
                </c:pt>
                <c:pt idx="9">
                  <c:v>Lets me manage my business online</c:v>
                </c:pt>
                <c:pt idx="10">
                  <c:v>Offers the lowest price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84.2</c:v>
                </c:pt>
                <c:pt idx="1">
                  <c:v>82.5</c:v>
                </c:pt>
                <c:pt idx="2">
                  <c:v>82.5</c:v>
                </c:pt>
                <c:pt idx="3">
                  <c:v>80.7</c:v>
                </c:pt>
                <c:pt idx="4">
                  <c:v>75.4</c:v>
                </c:pt>
                <c:pt idx="5">
                  <c:v>73.7</c:v>
                </c:pt>
                <c:pt idx="6">
                  <c:v>73.7</c:v>
                </c:pt>
                <c:pt idx="7">
                  <c:v>73.7</c:v>
                </c:pt>
                <c:pt idx="8">
                  <c:v>71.9</c:v>
                </c:pt>
                <c:pt idx="9">
                  <c:v>57.9</c:v>
                </c:pt>
                <c:pt idx="10">
                  <c:v>47.4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MIDWEST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Provides reliable service</c:v>
                </c:pt>
                <c:pt idx="1">
                  <c:v>Provides timely waste reporting</c:v>
                </c:pt>
                <c:pt idx="2">
                  <c:v>Is compliant with all regulations</c:v>
                </c:pt>
                <c:pt idx="3">
                  <c:v>Is an innovative company pioneering new solutions to real problems</c:v>
                </c:pt>
                <c:pt idx="4">
                  <c:v>Anticipates my organization's waste needs and recommends solutions to solve complex waste problems</c:v>
                </c:pt>
                <c:pt idx="5">
                  <c:v>Has proactive communication about my service</c:v>
                </c:pt>
                <c:pt idx="6">
                  <c:v>Is a single solution provider for all recycling, waste, and environmental services needs</c:v>
                </c:pt>
                <c:pt idx="7">
                  <c:v>Offers a wide range of services</c:v>
                </c:pt>
                <c:pt idx="8">
                  <c:v>Works with my company to help us reach our sustainability goals</c:v>
                </c:pt>
                <c:pt idx="9">
                  <c:v>Lets me manage my business online</c:v>
                </c:pt>
                <c:pt idx="10">
                  <c:v>Offers the lowest price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84.3</c:v>
                </c:pt>
                <c:pt idx="1">
                  <c:v>72.9</c:v>
                </c:pt>
                <c:pt idx="2">
                  <c:v>87.1</c:v>
                </c:pt>
                <c:pt idx="3">
                  <c:v>71.4</c:v>
                </c:pt>
                <c:pt idx="4">
                  <c:v>70.0</c:v>
                </c:pt>
                <c:pt idx="5">
                  <c:v>58.6</c:v>
                </c:pt>
                <c:pt idx="6">
                  <c:v>74.3</c:v>
                </c:pt>
                <c:pt idx="7">
                  <c:v>77.1</c:v>
                </c:pt>
                <c:pt idx="8">
                  <c:v>70.0</c:v>
                </c:pt>
                <c:pt idx="9">
                  <c:v>64.3</c:v>
                </c:pt>
                <c:pt idx="10">
                  <c:v>62.9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Provides reliable service</c:v>
                </c:pt>
                <c:pt idx="1">
                  <c:v>Provides timely waste reporting</c:v>
                </c:pt>
                <c:pt idx="2">
                  <c:v>Is compliant with all regulations</c:v>
                </c:pt>
                <c:pt idx="3">
                  <c:v>Is an innovative company pioneering new solutions to real problems</c:v>
                </c:pt>
                <c:pt idx="4">
                  <c:v>Anticipates my organization's waste needs and recommends solutions to solve complex waste problems</c:v>
                </c:pt>
                <c:pt idx="5">
                  <c:v>Has proactive communication about my service</c:v>
                </c:pt>
                <c:pt idx="6">
                  <c:v>Is a single solution provider for all recycling, waste, and environmental services needs</c:v>
                </c:pt>
                <c:pt idx="7">
                  <c:v>Offers a wide range of services</c:v>
                </c:pt>
                <c:pt idx="8">
                  <c:v>Works with my company to help us reach our sustainability goals</c:v>
                </c:pt>
                <c:pt idx="9">
                  <c:v>Lets me manage my business online</c:v>
                </c:pt>
                <c:pt idx="10">
                  <c:v>Offers the lowest price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87.3</c:v>
                </c:pt>
                <c:pt idx="1">
                  <c:v>76.1</c:v>
                </c:pt>
                <c:pt idx="2">
                  <c:v>81.3</c:v>
                </c:pt>
                <c:pt idx="3">
                  <c:v>72.4</c:v>
                </c:pt>
                <c:pt idx="4">
                  <c:v>74.6</c:v>
                </c:pt>
                <c:pt idx="5">
                  <c:v>80.6</c:v>
                </c:pt>
                <c:pt idx="6">
                  <c:v>75.4</c:v>
                </c:pt>
                <c:pt idx="7">
                  <c:v>76.9</c:v>
                </c:pt>
                <c:pt idx="8">
                  <c:v>76.1</c:v>
                </c:pt>
                <c:pt idx="9">
                  <c:v>68.7</c:v>
                </c:pt>
                <c:pt idx="10">
                  <c:v>56.7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Provides reliable service</c:v>
                </c:pt>
                <c:pt idx="1">
                  <c:v>Provides timely waste reporting</c:v>
                </c:pt>
                <c:pt idx="2">
                  <c:v>Is compliant with all regulations</c:v>
                </c:pt>
                <c:pt idx="3">
                  <c:v>Is an innovative company pioneering new solutions to real problems</c:v>
                </c:pt>
                <c:pt idx="4">
                  <c:v>Anticipates my organization's waste needs and recommends solutions to solve complex waste problems</c:v>
                </c:pt>
                <c:pt idx="5">
                  <c:v>Has proactive communication about my service</c:v>
                </c:pt>
                <c:pt idx="6">
                  <c:v>Is a single solution provider for all recycling, waste, and environmental services needs</c:v>
                </c:pt>
                <c:pt idx="7">
                  <c:v>Offers a wide range of services</c:v>
                </c:pt>
                <c:pt idx="8">
                  <c:v>Works with my company to help us reach our sustainability goals</c:v>
                </c:pt>
                <c:pt idx="9">
                  <c:v>Lets me manage my business online</c:v>
                </c:pt>
                <c:pt idx="10">
                  <c:v>Offers the lowest price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84.1</c:v>
                </c:pt>
                <c:pt idx="1">
                  <c:v>84.1</c:v>
                </c:pt>
                <c:pt idx="2">
                  <c:v>79.3</c:v>
                </c:pt>
                <c:pt idx="3">
                  <c:v>65.9</c:v>
                </c:pt>
                <c:pt idx="4">
                  <c:v>74.4</c:v>
                </c:pt>
                <c:pt idx="5">
                  <c:v>70.7</c:v>
                </c:pt>
                <c:pt idx="6">
                  <c:v>79.3</c:v>
                </c:pt>
                <c:pt idx="7">
                  <c:v>76.8</c:v>
                </c:pt>
                <c:pt idx="8">
                  <c:v>78.0</c:v>
                </c:pt>
                <c:pt idx="9">
                  <c:v>72.0</c:v>
                </c:pt>
                <c:pt idx="10">
                  <c:v>59.8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Familiarity by Industry – Top 4 Brands Heatmap (Top 2 Box 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63.8</c:v>
                </c:pt>
                <c:pt idx="1">
                  <c:v>36.2</c:v>
                </c:pt>
                <c:pt idx="2">
                  <c:v>20.7</c:v>
                </c:pt>
                <c:pt idx="3">
                  <c:v>19.0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MANUFACTURING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86.2</c:v>
                </c:pt>
                <c:pt idx="1">
                  <c:v>41.4</c:v>
                </c:pt>
                <c:pt idx="2">
                  <c:v>20.7</c:v>
                </c:pt>
                <c:pt idx="3">
                  <c:v>27.6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HEALTHCARE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82.6</c:v>
                </c:pt>
                <c:pt idx="1">
                  <c:v>30.4</c:v>
                </c:pt>
                <c:pt idx="2">
                  <c:v>17.4</c:v>
                </c:pt>
                <c:pt idx="3">
                  <c:v>13.0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55.6</c:v>
                </c:pt>
                <c:pt idx="1">
                  <c:v>25.0</c:v>
                </c:pt>
                <c:pt idx="2">
                  <c:v>27.8</c:v>
                </c:pt>
                <c:pt idx="3">
                  <c:v>30.6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90.9</c:v>
                </c:pt>
                <c:pt idx="1">
                  <c:v>18.2</c:v>
                </c:pt>
                <c:pt idx="2">
                  <c:v>4.5</c:v>
                </c:pt>
                <c:pt idx="3">
                  <c:v>4.5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PROF_SERVICES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Waste Management</c:v>
                </c:pt>
                <c:pt idx="1">
                  <c:v>Republic Services</c:v>
                </c:pt>
                <c:pt idx="2">
                  <c:v>GFL Environmental</c:v>
                </c:pt>
                <c:pt idx="3">
                  <c:v>Clean Harbors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81.8</c:v>
                </c:pt>
                <c:pt idx="1">
                  <c:v>27.3</c:v>
                </c:pt>
                <c:pt idx="2">
                  <c:v>18.2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Number of Records per Question (QID) in the Survey Dataset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Sheet1!$A$2:$A$26</c:f>
              <c:strCache>
                <c:ptCount val="25"/>
                <c:pt idx="0">
                  <c:v>q17</c:v>
                </c:pt>
                <c:pt idx="1">
                  <c:v>q19</c:v>
                </c:pt>
                <c:pt idx="2">
                  <c:v>uniqueid</c:v>
                </c:pt>
                <c:pt idx="3">
                  <c:v>q15b</c:v>
                </c:pt>
                <c:pt idx="4">
                  <c:v>q12</c:v>
                </c:pt>
                <c:pt idx="5">
                  <c:v>q9a</c:v>
                </c:pt>
                <c:pt idx="6">
                  <c:v>q16</c:v>
                </c:pt>
                <c:pt idx="7">
                  <c:v>q21</c:v>
                </c:pt>
                <c:pt idx="8">
                  <c:v>q18</c:v>
                </c:pt>
                <c:pt idx="9">
                  <c:v>q15a</c:v>
                </c:pt>
                <c:pt idx="10">
                  <c:v>language</c:v>
                </c:pt>
                <c:pt idx="11">
                  <c:v>weight</c:v>
                </c:pt>
                <c:pt idx="12">
                  <c:v>q4</c:v>
                </c:pt>
                <c:pt idx="13">
                  <c:v>q6b</c:v>
                </c:pt>
                <c:pt idx="14">
                  <c:v>q6a</c:v>
                </c:pt>
                <c:pt idx="15">
                  <c:v>q3</c:v>
                </c:pt>
                <c:pt idx="16">
                  <c:v>q10</c:v>
                </c:pt>
                <c:pt idx="17">
                  <c:v>q8</c:v>
                </c:pt>
                <c:pt idx="18">
                  <c:v>mrk_finalq16</c:v>
                </c:pt>
                <c:pt idx="19">
                  <c:v>q22a</c:v>
                </c:pt>
                <c:pt idx="20">
                  <c:v>q1</c:v>
                </c:pt>
                <c:pt idx="21">
                  <c:v>q20</c:v>
                </c:pt>
                <c:pt idx="22">
                  <c:v>hregionus</c:v>
                </c:pt>
                <c:pt idx="23">
                  <c:v>q5</c:v>
                </c:pt>
                <c:pt idx="24">
                  <c:v>hcountry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4296.0</c:v>
                </c:pt>
                <c:pt idx="1">
                  <c:v>765.0</c:v>
                </c:pt>
                <c:pt idx="2">
                  <c:v>714.0</c:v>
                </c:pt>
                <c:pt idx="3">
                  <c:v>541.0</c:v>
                </c:pt>
                <c:pt idx="4">
                  <c:v>540.0</c:v>
                </c:pt>
                <c:pt idx="5">
                  <c:v>540.0</c:v>
                </c:pt>
                <c:pt idx="6">
                  <c:v>396.0</c:v>
                </c:pt>
                <c:pt idx="7">
                  <c:v>396.0</c:v>
                </c:pt>
                <c:pt idx="8">
                  <c:v>271.0</c:v>
                </c:pt>
                <c:pt idx="9">
                  <c:v>241.0</c:v>
                </c:pt>
                <c:pt idx="10">
                  <c:v>117.0</c:v>
                </c:pt>
                <c:pt idx="11">
                  <c:v>86.0</c:v>
                </c:pt>
                <c:pt idx="12">
                  <c:v>51.0</c:v>
                </c:pt>
                <c:pt idx="13">
                  <c:v>45.0</c:v>
                </c:pt>
                <c:pt idx="14">
                  <c:v>35.0</c:v>
                </c:pt>
                <c:pt idx="15">
                  <c:v>35.0</c:v>
                </c:pt>
                <c:pt idx="16">
                  <c:v>31.0</c:v>
                </c:pt>
                <c:pt idx="17">
                  <c:v>31.0</c:v>
                </c:pt>
                <c:pt idx="18">
                  <c:v>31.0</c:v>
                </c:pt>
                <c:pt idx="19">
                  <c:v>29.0</c:v>
                </c:pt>
                <c:pt idx="20">
                  <c:v>21.0</c:v>
                </c:pt>
                <c:pt idx="21">
                  <c:v>21.0</c:v>
                </c:pt>
                <c:pt idx="22">
                  <c:v>19.0</c:v>
                </c:pt>
                <c:pt idx="23">
                  <c:v>11.0</c:v>
                </c:pt>
                <c:pt idx="24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Cortex PPT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Brand Familiarity by US Region – 5 Brands (Top 2 Box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Waste Management leads on Midwest at 81.0%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is lowest on Midwest at 3.2%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varies most: Midwest 3.2% to Northeast 27.7%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Brand Consideration by US Region – 5 Brands (Top 2 Box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Waste Management leads on Midwest at 78.7%</a:t>
            </a:r>
          </a:p>
          <a:p>
            <a:pPr>
              <a:spcAft>
                <a:spcPts val="700"/>
              </a:spcAft>
              <a:defRPr sz="1200"/>
            </a:pPr>
            <a:r>
              <a:t>• Waste Connections is lowest on Midwest at 1.6%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varies most: Midwest 6.6% to Northeast 25.9%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NPS Mean Score by US Region – 6 Major Brands (0–10 Scale Heatmap)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GFL Environmental leads on South at 8.8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is lowest on Midwest at 6.3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varies most: Midwest 6.3 to South 8.3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Brand Funnel: Familiarity vs Consideration vs Current Usage – Top 10 Brands (%)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Waste Management leads on Familiarity at 75.0%</a:t>
            </a:r>
          </a:p>
          <a:p>
            <a:pPr>
              <a:spcAft>
                <a:spcPts val="700"/>
              </a:spcAft>
              <a:defRPr sz="1200"/>
            </a:pPr>
            <a:r>
              <a:t>• Ecoflo is lowest on Usage at 5.1%</a:t>
            </a:r>
          </a:p>
          <a:p>
            <a:pPr>
              <a:spcAft>
                <a:spcPts val="700"/>
              </a:spcAft>
              <a:defRPr sz="1200"/>
            </a:pPr>
            <a:r>
              <a:t>• Republic Services varies most: Usage 16.1% to Familiarity 35.6%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Brand Consideration by Decision Role – 6 Brands (Top 2 Box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Waste Management leads on Input Only at 76.9%</a:t>
            </a:r>
          </a:p>
          <a:p>
            <a:pPr>
              <a:spcAft>
                <a:spcPts val="700"/>
              </a:spcAft>
              <a:defRPr sz="1200"/>
            </a:pPr>
            <a:r>
              <a:t>• Waste Connections is lowest on Input Only at 0.0%</a:t>
            </a:r>
          </a:p>
          <a:p>
            <a:pPr>
              <a:spcAft>
                <a:spcPts val="700"/>
              </a:spcAft>
              <a:defRPr sz="1200"/>
            </a:pPr>
            <a:r>
              <a:t>• Allied Waste varies most: Input Only 7.7% to Primary Dm 30.3%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Service Attribute Importance by US Region – Heatmap (Top 2 Box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Provides reliable service leads on South at 87.3%</a:t>
            </a:r>
          </a:p>
          <a:p>
            <a:pPr>
              <a:spcAft>
                <a:spcPts val="700"/>
              </a:spcAft>
              <a:defRPr sz="1200"/>
            </a:pPr>
            <a:r>
              <a:t>• Offers the lowest price is lowest on Northeast at 47.4%</a:t>
            </a:r>
          </a:p>
          <a:p>
            <a:pPr>
              <a:spcAft>
                <a:spcPts val="700"/>
              </a:spcAft>
              <a:defRPr sz="1200"/>
            </a:pPr>
            <a:r>
              <a:t>• Has proactive communication about my service varies most: Midwest 58.6% to South 80.6%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Brand Familiarity by Industry – Top 4 Brands Heatmap (Top 2 Box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Waste Management leads on Retail at 90.9%</a:t>
            </a:r>
          </a:p>
          <a:p>
            <a:pPr>
              <a:spcAft>
                <a:spcPts val="700"/>
              </a:spcAft>
              <a:defRPr sz="1200"/>
            </a:pPr>
            <a:r>
              <a:t>• Clean Harbors is lowest on Prof Services at 0.0%</a:t>
            </a:r>
          </a:p>
          <a:p>
            <a:pPr>
              <a:spcAft>
                <a:spcPts val="700"/>
              </a:spcAft>
              <a:defRPr sz="1200"/>
            </a:pPr>
            <a:r>
              <a:t>• Waste Management varies most: Finance 55.6% to Retail 90.9%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Number of Records per Question (QID) in the Survey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697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/>
            </a:pPr>
            <a:r>
              <a:t>• q17 contributes the highest volume with 4,296 records (~46.4% of total)</a:t>
            </a:r>
          </a:p>
          <a:p>
            <a:pPr>
              <a:spcAft>
                <a:spcPts val="700"/>
              </a:spcAft>
              <a:defRPr sz="1200"/>
            </a:pPr>
            <a:r>
              <a:t>• q19 ranks #2 with 765 records</a:t>
            </a:r>
          </a:p>
          <a:p>
            <a:pPr>
              <a:spcAft>
                <a:spcPts val="700"/>
              </a:spcAft>
              <a:defRPr sz="1200"/>
            </a:pPr>
            <a:r>
              <a:t>• hcountry has the smallest volume with 3 records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0" y="960120"/>
          <a:ext cx="827532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